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12" r:id="rId51"/>
    <p:sldId id="311" r:id="rId52"/>
    <p:sldId id="313" r:id="rId53"/>
    <p:sldId id="314" r:id="rId54"/>
    <p:sldId id="315" r:id="rId55"/>
    <p:sldId id="307" r:id="rId56"/>
    <p:sldId id="306" r:id="rId57"/>
    <p:sldId id="305" r:id="rId58"/>
    <p:sldId id="308" r:id="rId59"/>
    <p:sldId id="310" r:id="rId60"/>
    <p:sldId id="309" r:id="rId61"/>
    <p:sldId id="319" r:id="rId62"/>
    <p:sldId id="316" r:id="rId63"/>
    <p:sldId id="318" r:id="rId64"/>
  </p:sldIdLst>
  <p:sldSz cx="12192000" cy="6858000"/>
  <p:notesSz cx="6858000" cy="9144000"/>
  <p:embeddedFontLst>
    <p:embeddedFont>
      <p:font typeface="Garamond" panose="02020404030301010803" pitchFamily="18" charset="0"/>
      <p:regular r:id="rId66"/>
      <p:bold r:id="rId67"/>
      <p:italic r:id="rId68"/>
      <p:boldItalic r:id="rId69"/>
    </p:embeddedFont>
    <p:embeddedFont>
      <p:font typeface="Play" panose="020B0604020202020204" charset="0"/>
      <p:regular r:id="rId70"/>
      <p:bold r:id="rId7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2" roundtripDataSignature="AMtx7miEvAlTwXDr1dKTvXM72lwcWvag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1B2290A-0C01-44B8-A518-6582D5B46231}">
  <a:tblStyle styleId="{D1B2290A-0C01-44B8-A518-6582D5B462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 varScale="1">
        <p:scale>
          <a:sx n="75" d="100"/>
          <a:sy n="75" d="100"/>
        </p:scale>
        <p:origin x="87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46" name="Google Shape;1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2" name="Google Shape;15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57" name="Google Shape;1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63" name="Google Shape;16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78" name="Google Shape;1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83" name="Google Shape;18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89" name="Google Shape;1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94" name="Google Shape;1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199" name="Google Shape;1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04" name="Google Shape;20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09" name="Google Shape;2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14" name="Google Shape;21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19" name="Google Shape;2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24" name="Google Shape;2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29" name="Google Shape;2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34" name="Google Shape;23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42" name="Google Shape;24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50" name="Google Shape;2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56" name="Google Shape;2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87" name="Google Shape;28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293" name="Google Shape;29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9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06" name="Google Shape;30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13" name="Google Shape;31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19" name="Google Shape;31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24" name="Google Shape;32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3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1" name="Google Shape;33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6" name="Google Shape;33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41" name="Google Shape;34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46" name="Google Shape;34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52" name="Google Shape;35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8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59" name="Google Shape;359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A16BF446-ED00-34F6-ED16-3F90DCF5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>
            <a:extLst>
              <a:ext uri="{FF2B5EF4-FFF2-40B4-BE49-F238E27FC236}">
                <a16:creationId xmlns:a16="http://schemas.microsoft.com/office/drawing/2014/main" id="{FCDBF2C6-6CA5-D6BE-7602-B954757948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:notes">
            <a:extLst>
              <a:ext uri="{FF2B5EF4-FFF2-40B4-BE49-F238E27FC236}">
                <a16:creationId xmlns:a16="http://schemas.microsoft.com/office/drawing/2014/main" id="{FD435C85-9969-E356-FE54-19D0F19F4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759751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F3BE9888-9412-39ED-3A38-8AEC163E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>
            <a:extLst>
              <a:ext uri="{FF2B5EF4-FFF2-40B4-BE49-F238E27FC236}">
                <a16:creationId xmlns:a16="http://schemas.microsoft.com/office/drawing/2014/main" id="{862A77E4-F955-6C4F-BD77-CD05B7914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6" name="Google Shape;336;p44:notes">
            <a:extLst>
              <a:ext uri="{FF2B5EF4-FFF2-40B4-BE49-F238E27FC236}">
                <a16:creationId xmlns:a16="http://schemas.microsoft.com/office/drawing/2014/main" id="{D5D0A062-241B-10FA-8563-FD6A61EA2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26329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1227CE84-DA9D-9B95-9F14-A1C3C6EA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>
            <a:extLst>
              <a:ext uri="{FF2B5EF4-FFF2-40B4-BE49-F238E27FC236}">
                <a16:creationId xmlns:a16="http://schemas.microsoft.com/office/drawing/2014/main" id="{7023113D-417D-9595-F4A4-52C0E69DF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6" name="Google Shape;336;p44:notes">
            <a:extLst>
              <a:ext uri="{FF2B5EF4-FFF2-40B4-BE49-F238E27FC236}">
                <a16:creationId xmlns:a16="http://schemas.microsoft.com/office/drawing/2014/main" id="{97F444A8-7555-EFB6-866B-5A7B9348B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285565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8CA66EAB-68DD-C4BB-DF84-EB8C64DC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>
            <a:extLst>
              <a:ext uri="{FF2B5EF4-FFF2-40B4-BE49-F238E27FC236}">
                <a16:creationId xmlns:a16="http://schemas.microsoft.com/office/drawing/2014/main" id="{52232FCA-5956-0ABD-06F4-0081FDC94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6" name="Google Shape;336;p44:notes">
            <a:extLst>
              <a:ext uri="{FF2B5EF4-FFF2-40B4-BE49-F238E27FC236}">
                <a16:creationId xmlns:a16="http://schemas.microsoft.com/office/drawing/2014/main" id="{5F5CEF72-E44F-5A33-B79D-3554039538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352727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>
          <a:extLst>
            <a:ext uri="{FF2B5EF4-FFF2-40B4-BE49-F238E27FC236}">
              <a16:creationId xmlns:a16="http://schemas.microsoft.com/office/drawing/2014/main" id="{4B7B624D-CFF0-C10E-70E8-B4BC32E0B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>
            <a:extLst>
              <a:ext uri="{FF2B5EF4-FFF2-40B4-BE49-F238E27FC236}">
                <a16:creationId xmlns:a16="http://schemas.microsoft.com/office/drawing/2014/main" id="{DEAF9E55-1352-836A-9499-CF47EDFE0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:notes">
            <a:extLst>
              <a:ext uri="{FF2B5EF4-FFF2-40B4-BE49-F238E27FC236}">
                <a16:creationId xmlns:a16="http://schemas.microsoft.com/office/drawing/2014/main" id="{5773B4B1-C40C-61BD-7F15-FE73361254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627810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08A1505E-BF76-15F8-C1CD-1A100F025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>
            <a:extLst>
              <a:ext uri="{FF2B5EF4-FFF2-40B4-BE49-F238E27FC236}">
                <a16:creationId xmlns:a16="http://schemas.microsoft.com/office/drawing/2014/main" id="{9CA3F3E3-070E-73FB-EDB7-0867F6F8A2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6" name="Google Shape;336;p44:notes">
            <a:extLst>
              <a:ext uri="{FF2B5EF4-FFF2-40B4-BE49-F238E27FC236}">
                <a16:creationId xmlns:a16="http://schemas.microsoft.com/office/drawing/2014/main" id="{05E07AF1-78AB-65E5-43B0-3F43FA9CDA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061967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D6436E09-3309-80C0-82B7-44E9F6909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>
            <a:extLst>
              <a:ext uri="{FF2B5EF4-FFF2-40B4-BE49-F238E27FC236}">
                <a16:creationId xmlns:a16="http://schemas.microsoft.com/office/drawing/2014/main" id="{4E090C35-028D-5C52-EFBF-3DCC3E6AF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6" name="Google Shape;336;p44:notes">
            <a:extLst>
              <a:ext uri="{FF2B5EF4-FFF2-40B4-BE49-F238E27FC236}">
                <a16:creationId xmlns:a16="http://schemas.microsoft.com/office/drawing/2014/main" id="{C90801F0-ACEC-6120-CF5B-BEA4F6D55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6022292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C695C13B-DA5F-9210-6340-8BB0FB58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>
            <a:extLst>
              <a:ext uri="{FF2B5EF4-FFF2-40B4-BE49-F238E27FC236}">
                <a16:creationId xmlns:a16="http://schemas.microsoft.com/office/drawing/2014/main" id="{6465D02A-6DE7-D8DE-A66B-85796908C3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6" name="Google Shape;336;p44:notes">
            <a:extLst>
              <a:ext uri="{FF2B5EF4-FFF2-40B4-BE49-F238E27FC236}">
                <a16:creationId xmlns:a16="http://schemas.microsoft.com/office/drawing/2014/main" id="{DD655CE6-2C7E-C47C-943F-21461E858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93021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>
          <a:extLst>
            <a:ext uri="{FF2B5EF4-FFF2-40B4-BE49-F238E27FC236}">
              <a16:creationId xmlns:a16="http://schemas.microsoft.com/office/drawing/2014/main" id="{3A2788A1-3C05-4483-DD14-5139FE84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4:notes">
            <a:extLst>
              <a:ext uri="{FF2B5EF4-FFF2-40B4-BE49-F238E27FC236}">
                <a16:creationId xmlns:a16="http://schemas.microsoft.com/office/drawing/2014/main" id="{B16744CE-54AA-E5F9-599E-CDA92C349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36" name="Google Shape;336;p44:notes">
            <a:extLst>
              <a:ext uri="{FF2B5EF4-FFF2-40B4-BE49-F238E27FC236}">
                <a16:creationId xmlns:a16="http://schemas.microsoft.com/office/drawing/2014/main" id="{97CD51EA-316B-432C-3162-54FD1403E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6710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5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5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-zZsPHIYfR4iL9te9iHU2qwXBsGfWv3-/view?usp=shar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../Lab%20Assignments/Programs/Stacks/Stacks.c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microsoft.com/office/2007/relationships/hdphoto" Target="../media/hdphoto5.wdp"/><Relationship Id="rId4" Type="http://schemas.openxmlformats.org/officeDocument/2006/relationships/image" Target="../media/image48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8.wdp"/><Relationship Id="rId4" Type="http://schemas.openxmlformats.org/officeDocument/2006/relationships/image" Target="../media/image53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914565" y="2155874"/>
            <a:ext cx="8678687" cy="1754326"/>
          </a:xfrm>
          <a:prstGeom prst="rect">
            <a:avLst/>
          </a:prstGeom>
          <a:solidFill>
            <a:srgbClr val="EC834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Menu Based Programs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 i="0" u="none" strike="noStrike" cap="non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3322320" y="2922955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https://drive.google.com/file/d/1-zZsPHIYfR4iL9te9iHU2qwXBsGfWv3-/view?usp=sharing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/>
        </p:nvSpPr>
        <p:spPr>
          <a:xfrm>
            <a:off x="1914565" y="2155874"/>
            <a:ext cx="8678687" cy="1754326"/>
          </a:xfrm>
          <a:prstGeom prst="rect">
            <a:avLst/>
          </a:prstGeom>
          <a:solidFill>
            <a:srgbClr val="EC834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Binary Search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509" y="933620"/>
            <a:ext cx="4820511" cy="5206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80" y="933620"/>
            <a:ext cx="4482718" cy="5214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/>
        </p:nvSpPr>
        <p:spPr>
          <a:xfrm>
            <a:off x="1914565" y="2155874"/>
            <a:ext cx="8678687" cy="1754326"/>
          </a:xfrm>
          <a:prstGeom prst="rect">
            <a:avLst/>
          </a:prstGeom>
          <a:solidFill>
            <a:srgbClr val="EC834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Bubble Sort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2774" y="863054"/>
            <a:ext cx="6268666" cy="5412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4004" y="760468"/>
            <a:ext cx="7150328" cy="5367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6080" y="212784"/>
            <a:ext cx="6705795" cy="624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5200" y="1396888"/>
            <a:ext cx="5363763" cy="4597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1235" y="894242"/>
            <a:ext cx="5177945" cy="5338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17804" y="894242"/>
            <a:ext cx="2500214" cy="141449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 txBox="1"/>
          <p:nvPr/>
        </p:nvSpPr>
        <p:spPr>
          <a:xfrm>
            <a:off x="1451853" y="3563286"/>
            <a:ext cx="2662947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Optimized Bubble Sort</a:t>
            </a:r>
            <a:endParaRPr/>
          </a:p>
        </p:txBody>
      </p:sp>
      <p:cxnSp>
        <p:nvCxnSpPr>
          <p:cNvPr id="137" name="Google Shape;137;p10"/>
          <p:cNvCxnSpPr/>
          <p:nvPr/>
        </p:nvCxnSpPr>
        <p:spPr>
          <a:xfrm rot="10800000" flipH="1">
            <a:off x="3715966" y="2675106"/>
            <a:ext cx="2120630" cy="1031132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38" name="Google Shape;138;p10"/>
          <p:cNvCxnSpPr/>
          <p:nvPr/>
        </p:nvCxnSpPr>
        <p:spPr>
          <a:xfrm>
            <a:off x="3715966" y="3706238"/>
            <a:ext cx="2639440" cy="0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/>
        </p:nvSpPr>
        <p:spPr>
          <a:xfrm>
            <a:off x="1914565" y="2155874"/>
            <a:ext cx="8678687" cy="1754326"/>
          </a:xfrm>
          <a:prstGeom prst="rect">
            <a:avLst/>
          </a:prstGeom>
          <a:solidFill>
            <a:srgbClr val="EC834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Stacks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2107" y="1069681"/>
            <a:ext cx="7985395" cy="471864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2"/>
          <p:cNvSpPr txBox="1"/>
          <p:nvPr/>
        </p:nvSpPr>
        <p:spPr>
          <a:xfrm>
            <a:off x="2514452" y="148148"/>
            <a:ext cx="776768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aramond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Algorithm for Push</a:t>
            </a:r>
            <a:endParaRPr sz="3600" b="1" i="0" u="none" strike="noStrike" cap="none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7632" y="943058"/>
            <a:ext cx="9516743" cy="5331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9335" y="1143161"/>
            <a:ext cx="8860259" cy="495986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 txBox="1"/>
          <p:nvPr/>
        </p:nvSpPr>
        <p:spPr>
          <a:xfrm>
            <a:off x="2132801" y="108653"/>
            <a:ext cx="776768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aramond"/>
              <a:buNone/>
            </a:pPr>
            <a:r>
              <a:rPr lang="en-US" sz="3600" b="1" i="0" u="none" strike="noStrike" cap="none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Algorithm for Pop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9247" y="3870995"/>
            <a:ext cx="6165511" cy="1820843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5"/>
          <p:cNvSpPr txBox="1"/>
          <p:nvPr/>
        </p:nvSpPr>
        <p:spPr>
          <a:xfrm>
            <a:off x="955743" y="1247117"/>
            <a:ext cx="6094379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aramond"/>
              <a:buNone/>
            </a:pPr>
            <a:r>
              <a:rPr lang="en-US" sz="3200" b="1" i="0" u="none" strike="noStrike" cap="none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Data representations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888055" y="723773"/>
            <a:ext cx="1041589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None/>
            </a:pPr>
            <a:r>
              <a:rPr lang="en-US" sz="20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Just gives the  definition of a stack in terms of data representations and operations.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1009245" y="3093840"/>
            <a:ext cx="6094379" cy="58477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Garamond"/>
              <a:buNone/>
            </a:pPr>
            <a:r>
              <a:rPr lang="en-US" sz="3200" b="1">
                <a:solidFill>
                  <a:srgbClr val="FF0000"/>
                </a:solidFill>
                <a:latin typeface="Garamond"/>
                <a:ea typeface="Garamond"/>
                <a:cs typeface="Garamond"/>
                <a:sym typeface="Garamond"/>
              </a:rPr>
              <a:t>Operations</a:t>
            </a:r>
            <a:endParaRPr sz="3200" b="1">
              <a:solidFill>
                <a:srgbClr val="FF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2366265" y="94928"/>
            <a:ext cx="776768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aramond"/>
              <a:buNone/>
            </a:pPr>
            <a:r>
              <a:rPr lang="en-US" sz="3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Stack as ADT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955743" y="1943440"/>
            <a:ext cx="696500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aramond"/>
              <a:buNone/>
            </a:pPr>
            <a:r>
              <a:rPr lang="en-US" sz="2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Stack follows the discipline LIFO (Last-in-first-out)  / FILO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aramond"/>
              <a:buNone/>
            </a:pPr>
            <a:r>
              <a:rPr lang="en-US" sz="2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Allows operations at one end only.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aramond"/>
              <a:buNone/>
            </a:pPr>
            <a:r>
              <a:rPr lang="en-US" sz="2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 top element can only be accessed at anytime</a:t>
            </a:r>
            <a:r>
              <a:rPr lang="en-US" sz="20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4744" y="652352"/>
            <a:ext cx="9282517" cy="5553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/>
          <p:nvPr/>
        </p:nvSpPr>
        <p:spPr>
          <a:xfrm>
            <a:off x="1139760" y="2645811"/>
            <a:ext cx="9912485" cy="783193"/>
          </a:xfrm>
          <a:prstGeom prst="roundRect">
            <a:avLst>
              <a:gd name="adj" fmla="val 16667"/>
            </a:avLst>
          </a:prstGeom>
          <a:solidFill>
            <a:srgbClr val="F1CBEC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Stack Implementation Using Array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94110" y="1507689"/>
            <a:ext cx="4849237" cy="239949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7473275" y="1507689"/>
            <a:ext cx="3976992" cy="830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 new data type can be created using typedef with structure.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3650" y="1702512"/>
            <a:ext cx="4143579" cy="3452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339" y="1690104"/>
            <a:ext cx="4522759" cy="3094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7349" y="1849476"/>
            <a:ext cx="5344996" cy="315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4848" y="1931693"/>
            <a:ext cx="6302311" cy="2994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3782" y="1139075"/>
            <a:ext cx="6052876" cy="4732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4283" y="1348732"/>
            <a:ext cx="6203441" cy="4160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6936" y="1995795"/>
            <a:ext cx="6512152" cy="2692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1283" y="560687"/>
            <a:ext cx="5876577" cy="5495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/>
          <p:nvPr/>
        </p:nvSpPr>
        <p:spPr>
          <a:xfrm>
            <a:off x="526919" y="2706100"/>
            <a:ext cx="11138169" cy="783193"/>
          </a:xfrm>
          <a:prstGeom prst="roundRect">
            <a:avLst>
              <a:gd name="adj" fmla="val 16667"/>
            </a:avLst>
          </a:prstGeom>
          <a:solidFill>
            <a:srgbClr val="F1CBEC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Infix &lt;-----&gt;Postfix &amp; Prefix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/>
        </p:nvSpPr>
        <p:spPr>
          <a:xfrm>
            <a:off x="2869539" y="211443"/>
            <a:ext cx="6094324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aramond"/>
              <a:buNone/>
            </a:pPr>
            <a:r>
              <a:rPr lang="en-US" sz="3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Expression   Representation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674915" y="1547649"/>
            <a:ext cx="10842172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None/>
            </a:pPr>
            <a:r>
              <a:rPr lang="en-US" sz="2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US" sz="28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Infix: </a:t>
            </a:r>
            <a:r>
              <a:rPr lang="en-US" sz="2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Operator is in between the operands.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None/>
            </a:pPr>
            <a:r>
              <a:rPr lang="en-US" sz="2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US" sz="28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Prefix: </a:t>
            </a:r>
            <a:r>
              <a:rPr lang="en-US" sz="2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Operator is before the operands. Also known as polish notation.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aramond"/>
              <a:buNone/>
            </a:pPr>
            <a:r>
              <a:rPr lang="en-US" sz="2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• </a:t>
            </a:r>
            <a:r>
              <a:rPr lang="en-US" sz="28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Postfix: </a:t>
            </a:r>
            <a:r>
              <a:rPr lang="en-US" sz="2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Operator is after the operands. Also known as suffix or reverse polish notation.</a:t>
            </a:r>
            <a:endParaRPr sz="2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238" name="Google Shape;23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8526" y="4227899"/>
            <a:ext cx="89535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11377" y="3494474"/>
            <a:ext cx="9010651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9" descr="Data Structure - Algebraic Expressions InFix PostFix Prefix Expressions -  EXAMRADA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4182" y="3980964"/>
            <a:ext cx="5945189" cy="1892807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9"/>
          <p:cNvSpPr txBox="1"/>
          <p:nvPr/>
        </p:nvSpPr>
        <p:spPr>
          <a:xfrm>
            <a:off x="2869539" y="211443"/>
            <a:ext cx="6094324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aramond"/>
              <a:buNone/>
            </a:pPr>
            <a:r>
              <a:rPr lang="en-US" sz="3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Operator and Operand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4579" y="1652288"/>
            <a:ext cx="4827699" cy="830997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9"/>
          <p:cNvSpPr txBox="1"/>
          <p:nvPr/>
        </p:nvSpPr>
        <p:spPr>
          <a:xfrm>
            <a:off x="826480" y="2816627"/>
            <a:ext cx="1071907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+ is an arithmetic operators while the symbols appearing on either side of them are operands. </a:t>
            </a: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Operands may be constant or variable.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/>
          <p:nvPr/>
        </p:nvSpPr>
        <p:spPr>
          <a:xfrm>
            <a:off x="808040" y="1101727"/>
            <a:ext cx="10757615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486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1.Add opening and closing bracket to the given infix expression if already not there then scan given Input from left to right and repeat step 2 to 5 for each element until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0486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 STACK is empty.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2. If an </a:t>
            </a:r>
            <a:r>
              <a:rPr lang="en-US" sz="2400" b="1">
                <a:solidFill>
                  <a:srgbClr val="00B0F0"/>
                </a:solidFill>
                <a:latin typeface="Garamond"/>
                <a:ea typeface="Garamond"/>
                <a:cs typeface="Garamond"/>
                <a:sym typeface="Garamond"/>
              </a:rPr>
              <a:t>operand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is encountered add it to OUTPUT.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3. If a </a:t>
            </a:r>
            <a:r>
              <a:rPr lang="en-US" sz="2400" b="1">
                <a:solidFill>
                  <a:srgbClr val="00B0F0"/>
                </a:solidFill>
                <a:latin typeface="Garamond"/>
                <a:ea typeface="Garamond"/>
                <a:cs typeface="Garamond"/>
                <a:sym typeface="Garamond"/>
              </a:rPr>
              <a:t>left parenthesis 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is encountered push it onto the STACK.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4. If an </a:t>
            </a:r>
            <a:r>
              <a:rPr lang="en-US" sz="2400" b="1">
                <a:solidFill>
                  <a:srgbClr val="00B0F0"/>
                </a:solidFill>
                <a:latin typeface="Garamond"/>
                <a:ea typeface="Garamond"/>
                <a:cs typeface="Garamond"/>
                <a:sym typeface="Garamond"/>
              </a:rPr>
              <a:t>operator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is encountered then: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29" marR="0" lvl="1" indent="-40004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AutoNum type="romanL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Repeatedly pop from STACK and add to OUTPUT each operator which has same or higher precedence than the operator encountered.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29" marR="0" lvl="1" indent="-40004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AutoNum type="romanL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Push the encountered operator onto the STACK.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5. If a </a:t>
            </a:r>
            <a:r>
              <a:rPr lang="en-US" sz="2400" b="1" i="0" u="none" strike="noStrike" cap="none">
                <a:solidFill>
                  <a:srgbClr val="00B0F0"/>
                </a:solidFill>
                <a:latin typeface="Garamond"/>
                <a:ea typeface="Garamond"/>
                <a:cs typeface="Garamond"/>
                <a:sym typeface="Garamond"/>
              </a:rPr>
              <a:t>right parenthesis</a:t>
            </a:r>
            <a:r>
              <a:rPr lang="en-US" sz="2400" b="0" i="0" u="none" strike="noStrike" cap="none">
                <a:solidFill>
                  <a:srgbClr val="00B0F0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is encountered, then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41" marR="0" lvl="1" indent="-40004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AutoNum type="romanL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Repeatedly pop from the STACK and add to OUTPUT each operator until a left parenthesis is encountered.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00041" marR="0" lvl="1" indent="-40004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AutoNum type="romanLcPeriod"/>
            </a:pPr>
            <a:r>
              <a:rPr lang="en-US"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Remove the left parenthesis; do not add it to OUTPUT.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0"/>
          <p:cNvSpPr txBox="1"/>
          <p:nvPr/>
        </p:nvSpPr>
        <p:spPr>
          <a:xfrm>
            <a:off x="2514452" y="148148"/>
            <a:ext cx="776768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aramond"/>
              <a:buNone/>
            </a:pPr>
            <a:r>
              <a:rPr lang="en-US" sz="3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Infix  to Postfix Conversion Algorithm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4257" y="474245"/>
            <a:ext cx="9378477" cy="5909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9650" y="935792"/>
            <a:ext cx="5130857" cy="4807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3"/>
          <p:cNvPicPr preferRelativeResize="0"/>
          <p:nvPr/>
        </p:nvPicPr>
        <p:blipFill rotWithShape="1">
          <a:blip r:embed="rId3">
            <a:alphaModFix/>
          </a:blip>
          <a:srcRect l="659" r="-3773" b="-3498"/>
          <a:stretch/>
        </p:blipFill>
        <p:spPr>
          <a:xfrm>
            <a:off x="1614775" y="60100"/>
            <a:ext cx="8852549" cy="6660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67293" y="1693572"/>
            <a:ext cx="8137995" cy="3007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7385" y="1288379"/>
            <a:ext cx="6655902" cy="2713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48307" y="1868650"/>
            <a:ext cx="6449581" cy="184273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6"/>
          <p:cNvSpPr txBox="1"/>
          <p:nvPr/>
        </p:nvSpPr>
        <p:spPr>
          <a:xfrm>
            <a:off x="2057401" y="4785367"/>
            <a:ext cx="609420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abcd^e-fgh*+^*+i-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7"/>
          <p:cNvSpPr txBox="1"/>
          <p:nvPr/>
        </p:nvSpPr>
        <p:spPr>
          <a:xfrm>
            <a:off x="2514452" y="148148"/>
            <a:ext cx="7767687" cy="6463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aramond"/>
              <a:buNone/>
            </a:pPr>
            <a:r>
              <a:rPr lang="en-US" sz="36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Infix to Prefix Conversion Algorithm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7"/>
          <p:cNvSpPr txBox="1"/>
          <p:nvPr/>
        </p:nvSpPr>
        <p:spPr>
          <a:xfrm>
            <a:off x="1338943" y="1647821"/>
            <a:ext cx="10266904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189" marR="0" lvl="0" indent="-45718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AutoNum type="arabicPeriod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Reverse the given expression and make every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(  </a:t>
            </a:r>
            <a:r>
              <a:rPr lang="en-US" sz="1800">
                <a:solidFill>
                  <a:srgbClr val="1F477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as   ) and  every   ) as (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457189" marR="0" lvl="0" indent="-45718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AutoNum type="arabicPeriod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Apply algorithm for infix to postfix conversion.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189" marR="0" lvl="0" indent="-45718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AutoNum type="arabicPeriod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Reverse the expression obtained from Step 2.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1307" y="3147438"/>
            <a:ext cx="4943475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1305" y="4361039"/>
            <a:ext cx="50673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28373" y="1822862"/>
            <a:ext cx="3486151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8"/>
          <p:cNvSpPr txBox="1"/>
          <p:nvPr/>
        </p:nvSpPr>
        <p:spPr>
          <a:xfrm>
            <a:off x="5328142" y="1859397"/>
            <a:ext cx="322300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 b="1">
                <a:solidFill>
                  <a:schemeClr val="dk1"/>
                </a:solidFill>
                <a:highlight>
                  <a:srgbClr val="FFFF00"/>
                </a:highlight>
                <a:latin typeface="Garamond"/>
                <a:ea typeface="Garamond"/>
                <a:cs typeface="Garamond"/>
                <a:sym typeface="Garamond"/>
              </a:rPr>
              <a:t>Given Infix Expression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38"/>
          <p:cNvCxnSpPr>
            <a:stCxn id="297" idx="2"/>
          </p:cNvCxnSpPr>
          <p:nvPr/>
        </p:nvCxnSpPr>
        <p:spPr>
          <a:xfrm>
            <a:off x="3071449" y="2470562"/>
            <a:ext cx="0" cy="511200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0" name="Google Shape;300;p38"/>
          <p:cNvCxnSpPr/>
          <p:nvPr/>
        </p:nvCxnSpPr>
        <p:spPr>
          <a:xfrm>
            <a:off x="3071447" y="3871339"/>
            <a:ext cx="0" cy="511339"/>
          </a:xfrm>
          <a:prstGeom prst="straightConnector1">
            <a:avLst/>
          </a:pr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1" name="Google Shape;301;p38"/>
          <p:cNvSpPr txBox="1"/>
          <p:nvPr/>
        </p:nvSpPr>
        <p:spPr>
          <a:xfrm>
            <a:off x="5998605" y="3324724"/>
            <a:ext cx="47631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 b="1">
                <a:solidFill>
                  <a:schemeClr val="dk1"/>
                </a:solidFill>
                <a:highlight>
                  <a:srgbClr val="FFFF00"/>
                </a:highlight>
                <a:latin typeface="Garamond"/>
                <a:ea typeface="Garamond"/>
                <a:cs typeface="Garamond"/>
                <a:sym typeface="Garamond"/>
              </a:rPr>
              <a:t>Reverse of Given Infix Expression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 txBox="1"/>
          <p:nvPr/>
        </p:nvSpPr>
        <p:spPr>
          <a:xfrm>
            <a:off x="5874779" y="4413337"/>
            <a:ext cx="517840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 b="1">
                <a:solidFill>
                  <a:schemeClr val="dk1"/>
                </a:solidFill>
                <a:highlight>
                  <a:srgbClr val="FFFF00"/>
                </a:highlight>
                <a:latin typeface="Garamond"/>
                <a:ea typeface="Garamond"/>
                <a:cs typeface="Garamond"/>
                <a:sym typeface="Garamond"/>
              </a:rPr>
              <a:t>Make every  (   as   ) and  every   ) as (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8"/>
          <p:cNvSpPr txBox="1"/>
          <p:nvPr/>
        </p:nvSpPr>
        <p:spPr>
          <a:xfrm>
            <a:off x="724476" y="922049"/>
            <a:ext cx="10548256" cy="4616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aramond"/>
              <a:buNone/>
            </a:pPr>
            <a:r>
              <a:rPr lang="en-US" sz="24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Step 1. Reverse the given expression and make every </a:t>
            </a:r>
            <a:r>
              <a:rPr lang="en-US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(  </a:t>
            </a:r>
            <a:r>
              <a:rPr lang="en-US"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as   ) and  every   ) as (</a:t>
            </a:r>
            <a:endParaRPr sz="24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5563" y="441546"/>
            <a:ext cx="5064721" cy="5812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20283" y="1740565"/>
            <a:ext cx="5276851" cy="291465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9"/>
          <p:cNvSpPr txBox="1"/>
          <p:nvPr/>
        </p:nvSpPr>
        <p:spPr>
          <a:xfrm>
            <a:off x="6351504" y="739140"/>
            <a:ext cx="4797407" cy="8309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aramond"/>
              <a:buNone/>
            </a:pPr>
            <a:r>
              <a:rPr lang="en-US" sz="24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Step 2. Apply algorithm for infix to postfix conversion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/>
        </p:nvSpPr>
        <p:spPr>
          <a:xfrm>
            <a:off x="704329" y="1100881"/>
            <a:ext cx="4797407" cy="8309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aramond"/>
              <a:buNone/>
            </a:pPr>
            <a:r>
              <a:rPr lang="en-US" sz="24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Step 3. Reverse the expression obtained from Step2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4327" y="2028408"/>
            <a:ext cx="3904832" cy="536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1"/>
          <p:cNvSpPr/>
          <p:nvPr/>
        </p:nvSpPr>
        <p:spPr>
          <a:xfrm>
            <a:off x="526919" y="2706100"/>
            <a:ext cx="11138169" cy="783193"/>
          </a:xfrm>
          <a:prstGeom prst="roundRect">
            <a:avLst>
              <a:gd name="adj" fmla="val 16667"/>
            </a:avLst>
          </a:prstGeom>
          <a:solidFill>
            <a:srgbClr val="F1CBEC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aramond"/>
              <a:buNone/>
            </a:pPr>
            <a:r>
              <a:rPr lang="en-US" sz="40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4000" b="1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Postfix Evaluation Algorithm</a:t>
            </a:r>
            <a:endParaRPr sz="4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2"/>
          <p:cNvSpPr txBox="1"/>
          <p:nvPr/>
        </p:nvSpPr>
        <p:spPr>
          <a:xfrm>
            <a:off x="1376623" y="1044928"/>
            <a:ext cx="9706708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For every token in the postfix expression (scanned from left to right):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891" marR="0" lvl="0" indent="-34289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AutoNum type="alphaLcParenR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If the token is an operand ( push it on the stack)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891" marR="0" lvl="0" indent="-34289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AutoNum type="alphaLcParenR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Otherwise, if the token is an operator (or function):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1942" marR="0" lvl="0" indent="-36194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Check if the stack contains the sufficient number of values (usually two) for given operator. If there are not enough values,  finish the algorithm with an error.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1942" marR="0" lvl="0" indent="-20954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361942" marR="0" lvl="0" indent="-36194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361942" marR="0" lvl="0" indent="-36194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361942" marR="0" lvl="0" indent="-36194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Else Pop the appropriate number of values from the stack and evaluate the operator using the popped values and  push the single result on the stack.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None/>
            </a:pPr>
            <a:r>
              <a:rPr lang="en-US" sz="2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At last if the stack contains only one value, return it as a final result of the calculation Otherwise, finish the algorithm with an error</a:t>
            </a:r>
            <a:endParaRPr sz="2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7" name="Google Shape;327;p42"/>
          <p:cNvSpPr txBox="1"/>
          <p:nvPr/>
        </p:nvSpPr>
        <p:spPr>
          <a:xfrm>
            <a:off x="2612575" y="309218"/>
            <a:ext cx="6820319" cy="5847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r>
              <a:rPr lang="en-US" sz="32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   Postfix Evaluation Algorithm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2"/>
          <p:cNvSpPr/>
          <p:nvPr/>
        </p:nvSpPr>
        <p:spPr>
          <a:xfrm>
            <a:off x="4119825" y="2921562"/>
            <a:ext cx="2783395" cy="1175657"/>
          </a:xfrm>
          <a:prstGeom prst="rect">
            <a:avLst/>
          </a:prstGeom>
          <a:solidFill>
            <a:srgbClr val="262626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A:  Top element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1942" marR="0" lvl="0" indent="-36194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B:   Next to top element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61942" marR="0" lvl="0" indent="-361942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aramond"/>
              <a:buNone/>
            </a:pPr>
            <a:r>
              <a:rPr lang="en-US" sz="1800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     Result = B operator A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0589" y="484183"/>
            <a:ext cx="7960032" cy="57005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/>
          <p:nvPr/>
        </p:nvSpPr>
        <p:spPr>
          <a:xfrm>
            <a:off x="1139760" y="2645811"/>
            <a:ext cx="9912485" cy="783193"/>
          </a:xfrm>
          <a:prstGeom prst="roundRect">
            <a:avLst>
              <a:gd name="adj" fmla="val 16667"/>
            </a:avLst>
          </a:prstGeom>
          <a:solidFill>
            <a:srgbClr val="F1CBEC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Postfix &amp; Prefix &lt;-----&gt;  Infix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Google Shape;343;p45"/>
          <p:cNvGraphicFramePr/>
          <p:nvPr/>
        </p:nvGraphicFramePr>
        <p:xfrm>
          <a:off x="631371" y="862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{D1B2290A-0C01-44B8-A518-6582D5B46231}</a:tableStyleId>
              </a:tblPr>
              <a:tblGrid>
                <a:gridCol w="547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Postfix to Infix Conversion Algorithm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6C5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/>
                        <a:t>Prefix to Infix Conversion</a:t>
                      </a: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6C5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1. 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Accept a postfix string from the user.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2.Start scanning the string (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from left) one </a:t>
                      </a:r>
                      <a:r>
                        <a:rPr lang="en-US" sz="2400" u="none" strike="noStrike" cap="none"/>
                        <a:t>character at a time.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3.If it is an operand, push it in stack.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4.If it is an operator, pop opnd1, opnd2 and concatenate them in the order                  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highlight>
                            <a:srgbClr val="00FFFF"/>
                          </a:highlight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"(opnd2, optr, opnd1)".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5.Push the result in the stack.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/>
                        <a:t>6.Repeat these steps until scanning completes.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7. Pop the remaining element of the stack, which is the required Infix notation equivalentto a given Postfix notation.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</a:rPr>
                        <a:t>1. </a:t>
                      </a: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Reverse the given prefix expression first.</a:t>
                      </a:r>
                      <a:endParaRPr sz="2400" b="0" u="none" strike="noStrike" cap="none">
                        <a:solidFill>
                          <a:schemeClr val="dk1"/>
                        </a:solidFill>
                        <a:highlight>
                          <a:srgbClr val="00FF00"/>
                        </a:highlight>
                        <a:latin typeface="Garamond"/>
                        <a:ea typeface="Garamond"/>
                        <a:cs typeface="Garamond"/>
                        <a:sym typeface="Garamond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</a:rPr>
                        <a:t>2. Start scanning the string (from left) one character at atime.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</a:rPr>
                        <a:t>3.If it is an operand, push it in stack.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</a:rPr>
                        <a:t>4.If it is an operator, pop opnd1, opnd2 and concatenate them in the order </a:t>
                      </a: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highlight>
                            <a:srgbClr val="00FF00"/>
                          </a:highlight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"(opnd1, optr, opnd2)".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</a:rPr>
                        <a:t>5.Push the result in the stack.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</a:rPr>
                        <a:t>6.Repeat these steps until scanning completes.</a:t>
                      </a:r>
                      <a:endParaRPr sz="18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Garamond"/>
                        <a:buNone/>
                      </a:pPr>
                      <a:r>
                        <a:rPr lang="en-US" sz="2400" b="0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7. </a:t>
                      </a: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Garamond"/>
                          <a:ea typeface="Garamond"/>
                          <a:cs typeface="Garamond"/>
                          <a:sym typeface="Garamond"/>
                        </a:rPr>
                        <a:t>Pop the remaining element of the stack, which is the required Infix notation equivalent to a given Prefix notation.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7594" y="492067"/>
            <a:ext cx="8085495" cy="587386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6"/>
          <p:cNvSpPr txBox="1"/>
          <p:nvPr/>
        </p:nvSpPr>
        <p:spPr>
          <a:xfrm>
            <a:off x="514979" y="1548675"/>
            <a:ext cx="2432616" cy="17543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r>
              <a:rPr lang="en-US" sz="32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Postfix 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r>
              <a:rPr lang="en-US" sz="32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 Infix Conversion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4057" y="2442593"/>
            <a:ext cx="4719899" cy="759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35828" y="3319756"/>
            <a:ext cx="5773929" cy="111729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7"/>
          <p:cNvSpPr txBox="1"/>
          <p:nvPr/>
        </p:nvSpPr>
        <p:spPr>
          <a:xfrm>
            <a:off x="595367" y="2442593"/>
            <a:ext cx="2589960" cy="17543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r>
              <a:rPr lang="en-US" sz="32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Prefix to Infix Conversion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4844" y="469506"/>
            <a:ext cx="8256819" cy="588319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8"/>
          <p:cNvSpPr txBox="1"/>
          <p:nvPr/>
        </p:nvSpPr>
        <p:spPr>
          <a:xfrm>
            <a:off x="584482" y="907707"/>
            <a:ext cx="2388993" cy="17543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r>
              <a:rPr lang="en-US" sz="32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Prefix to Infix Conversion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A4240A5A-74F2-DA71-0BA5-E297F63A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>
            <a:extLst>
              <a:ext uri="{FF2B5EF4-FFF2-40B4-BE49-F238E27FC236}">
                <a16:creationId xmlns:a16="http://schemas.microsoft.com/office/drawing/2014/main" id="{758FE6E3-C3E4-0D32-CE8B-622B5A69BFC9}"/>
              </a:ext>
            </a:extLst>
          </p:cNvPr>
          <p:cNvSpPr txBox="1"/>
          <p:nvPr/>
        </p:nvSpPr>
        <p:spPr>
          <a:xfrm>
            <a:off x="1914565" y="2155874"/>
            <a:ext cx="8678687" cy="1754326"/>
          </a:xfrm>
          <a:prstGeom prst="rect">
            <a:avLst/>
          </a:prstGeom>
          <a:solidFill>
            <a:srgbClr val="EC834E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Sorting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9331393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0A3B4DAE-99CF-E106-7FEA-D3C763D2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>
            <a:extLst>
              <a:ext uri="{FF2B5EF4-FFF2-40B4-BE49-F238E27FC236}">
                <a16:creationId xmlns:a16="http://schemas.microsoft.com/office/drawing/2014/main" id="{0E92F9C9-D7CB-2A93-DF14-706CA07B6CDA}"/>
              </a:ext>
            </a:extLst>
          </p:cNvPr>
          <p:cNvSpPr/>
          <p:nvPr/>
        </p:nvSpPr>
        <p:spPr>
          <a:xfrm>
            <a:off x="1139760" y="2645811"/>
            <a:ext cx="9912485" cy="783193"/>
          </a:xfrm>
          <a:prstGeom prst="roundRect">
            <a:avLst>
              <a:gd name="adj" fmla="val 16667"/>
            </a:avLst>
          </a:prstGeom>
          <a:solidFill>
            <a:srgbClr val="F1CBEC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Selection Sort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55328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FAE449-018A-0433-D4B1-4998BD4BB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0067" y="352307"/>
            <a:ext cx="6439853" cy="629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045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6AD5C-B5C1-DC1A-0AA7-A95470EC4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3715AF-F45D-2EB4-68F2-8E68B44E5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572" y="327391"/>
            <a:ext cx="4858923" cy="41633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404431-E7A2-A9E0-D9CB-1E7C298423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6000" y="1539111"/>
            <a:ext cx="4502468" cy="199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159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62F2A007-D9A2-F835-2C77-C666AC318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>
            <a:extLst>
              <a:ext uri="{FF2B5EF4-FFF2-40B4-BE49-F238E27FC236}">
                <a16:creationId xmlns:a16="http://schemas.microsoft.com/office/drawing/2014/main" id="{20921B94-B73D-30D2-3375-96E57AF9A9E4}"/>
              </a:ext>
            </a:extLst>
          </p:cNvPr>
          <p:cNvSpPr/>
          <p:nvPr/>
        </p:nvSpPr>
        <p:spPr>
          <a:xfrm>
            <a:off x="1139760" y="2645811"/>
            <a:ext cx="9912485" cy="783193"/>
          </a:xfrm>
          <a:prstGeom prst="roundRect">
            <a:avLst>
              <a:gd name="adj" fmla="val 16667"/>
            </a:avLst>
          </a:prstGeom>
          <a:solidFill>
            <a:srgbClr val="F1CBEC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Insertion Sort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90416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D3D006-6449-0C17-1E24-A9A6357E6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44" y="131952"/>
            <a:ext cx="7433678" cy="38101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5AC197-14E8-768B-FD11-3C9DEC6C47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55429" y="980394"/>
            <a:ext cx="4186200" cy="14376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47F6B2-FBFF-B7BD-17CF-7EEC8508E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960" y="4174544"/>
            <a:ext cx="5920524" cy="240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9416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5BAC2922-A080-017A-F024-2DBD86157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>
            <a:extLst>
              <a:ext uri="{FF2B5EF4-FFF2-40B4-BE49-F238E27FC236}">
                <a16:creationId xmlns:a16="http://schemas.microsoft.com/office/drawing/2014/main" id="{CA10D6DD-9ACB-B69A-4345-629953F19DFF}"/>
              </a:ext>
            </a:extLst>
          </p:cNvPr>
          <p:cNvSpPr/>
          <p:nvPr/>
        </p:nvSpPr>
        <p:spPr>
          <a:xfrm>
            <a:off x="1139760" y="2645811"/>
            <a:ext cx="9912485" cy="783193"/>
          </a:xfrm>
          <a:prstGeom prst="roundRect">
            <a:avLst>
              <a:gd name="adj" fmla="val 16667"/>
            </a:avLst>
          </a:prstGeom>
          <a:solidFill>
            <a:srgbClr val="F1CBEC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Merge Sort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2565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>
          <a:extLst>
            <a:ext uri="{FF2B5EF4-FFF2-40B4-BE49-F238E27FC236}">
              <a16:creationId xmlns:a16="http://schemas.microsoft.com/office/drawing/2014/main" id="{0C721229-B9E8-2006-9F25-B85C78CA1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DA5A6C-F2F6-D79F-736E-83111D0A8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66" y="351672"/>
            <a:ext cx="5999982" cy="36615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630C4C-B9E1-E0F7-22D0-0F87BDB1D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40" y="3851173"/>
            <a:ext cx="4874677" cy="292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164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D7531A-B27D-12F9-7D48-3D3A4B08C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78001" y="0"/>
            <a:ext cx="580594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277366-1C31-D64C-2092-9AA652D7F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83944" y="223520"/>
            <a:ext cx="4608055" cy="3025892"/>
          </a:xfrm>
          <a:prstGeom prst="rect">
            <a:avLst/>
          </a:prstGeom>
        </p:spPr>
      </p:pic>
      <p:sp>
        <p:nvSpPr>
          <p:cNvPr id="6" name="Google Shape;362;p48">
            <a:extLst>
              <a:ext uri="{FF2B5EF4-FFF2-40B4-BE49-F238E27FC236}">
                <a16:creationId xmlns:a16="http://schemas.microsoft.com/office/drawing/2014/main" id="{6C60A201-30D2-F3AB-81E6-BA8F9D74CFB7}"/>
              </a:ext>
            </a:extLst>
          </p:cNvPr>
          <p:cNvSpPr txBox="1"/>
          <p:nvPr/>
        </p:nvSpPr>
        <p:spPr>
          <a:xfrm>
            <a:off x="-10159" y="0"/>
            <a:ext cx="1691658" cy="6801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r>
              <a:rPr lang="en-US" sz="24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Merge Function in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r>
              <a:rPr lang="en-US" sz="24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Merge Sort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2645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6E57A-4659-B832-20F7-73E0510C9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>
            <a:extLst>
              <a:ext uri="{FF2B5EF4-FFF2-40B4-BE49-F238E27FC236}">
                <a16:creationId xmlns:a16="http://schemas.microsoft.com/office/drawing/2014/main" id="{7AE58D1B-3610-D68B-9E0F-B3EB4382DA5C}"/>
              </a:ext>
            </a:extLst>
          </p:cNvPr>
          <p:cNvSpPr/>
          <p:nvPr/>
        </p:nvSpPr>
        <p:spPr>
          <a:xfrm>
            <a:off x="1139760" y="2645811"/>
            <a:ext cx="9912485" cy="783193"/>
          </a:xfrm>
          <a:prstGeom prst="roundRect">
            <a:avLst>
              <a:gd name="adj" fmla="val 16667"/>
            </a:avLst>
          </a:prstGeom>
          <a:solidFill>
            <a:srgbClr val="F1CBEC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Quick Sort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02092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8B5AFE72-804A-C166-66C6-78C7E49D1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B77A84-E078-281C-B253-ADAEF6473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484" y="568842"/>
            <a:ext cx="6001904" cy="31192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3EFE52-0DA5-0EE1-7935-02A13C55E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260" y="3500120"/>
            <a:ext cx="4381880" cy="28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656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FC807A9E-E9EE-9279-EAEA-FFA45C364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061580-3EA3-16C3-8A27-930F85DEA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31136"/>
            <a:ext cx="2959965" cy="146182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7F8549-E868-9C70-D374-BF04741BE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7843" y="453132"/>
            <a:ext cx="4061812" cy="5951736"/>
          </a:xfrm>
          <a:prstGeom prst="rect">
            <a:avLst/>
          </a:prstGeom>
        </p:spPr>
      </p:pic>
      <p:sp>
        <p:nvSpPr>
          <p:cNvPr id="4" name="Google Shape;362;p48">
            <a:extLst>
              <a:ext uri="{FF2B5EF4-FFF2-40B4-BE49-F238E27FC236}">
                <a16:creationId xmlns:a16="http://schemas.microsoft.com/office/drawing/2014/main" id="{B772EE37-9514-08ED-FE99-D4DF2CCB5D09}"/>
              </a:ext>
            </a:extLst>
          </p:cNvPr>
          <p:cNvSpPr txBox="1"/>
          <p:nvPr/>
        </p:nvSpPr>
        <p:spPr>
          <a:xfrm>
            <a:off x="-10159" y="0"/>
            <a:ext cx="1691658" cy="68018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r>
              <a:rPr lang="en-US" sz="24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Divide Function in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r>
              <a:rPr lang="en-US" sz="2400" b="1">
                <a:solidFill>
                  <a:schemeClr val="lt1"/>
                </a:solidFill>
                <a:latin typeface="Garamond"/>
                <a:ea typeface="Garamond"/>
                <a:cs typeface="Garamond"/>
                <a:sym typeface="Garamond"/>
              </a:rPr>
              <a:t>Quick Sort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US" sz="2800" b="1">
              <a:solidFill>
                <a:schemeClr val="lt1"/>
              </a:solidFill>
              <a:latin typeface="Garamond"/>
              <a:sym typeface="Garamond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aramond"/>
              <a:buNone/>
            </a:pPr>
            <a:endParaRPr lang="en-IN" sz="2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9775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>
          <a:extLst>
            <a:ext uri="{FF2B5EF4-FFF2-40B4-BE49-F238E27FC236}">
              <a16:creationId xmlns:a16="http://schemas.microsoft.com/office/drawing/2014/main" id="{EEC26E66-F85E-6C5E-4687-EC666E28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>
            <a:extLst>
              <a:ext uri="{FF2B5EF4-FFF2-40B4-BE49-F238E27FC236}">
                <a16:creationId xmlns:a16="http://schemas.microsoft.com/office/drawing/2014/main" id="{1B0585EA-2AE0-64E3-7BE0-76F9EB8A96FF}"/>
              </a:ext>
            </a:extLst>
          </p:cNvPr>
          <p:cNvSpPr/>
          <p:nvPr/>
        </p:nvSpPr>
        <p:spPr>
          <a:xfrm>
            <a:off x="1139760" y="2645811"/>
            <a:ext cx="9912485" cy="783193"/>
          </a:xfrm>
          <a:prstGeom prst="roundRect">
            <a:avLst>
              <a:gd name="adj" fmla="val 16667"/>
            </a:avLst>
          </a:prstGeom>
          <a:solidFill>
            <a:srgbClr val="F1CBEC"/>
          </a:solidFill>
          <a:ln w="15875" cap="flat" cmpd="sng">
            <a:solidFill>
              <a:srgbClr val="08283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5577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F73307-AC05-2C47-2E32-62ACBB45EC04}"/>
              </a:ext>
            </a:extLst>
          </p:cNvPr>
          <p:cNvSpPr txBox="1"/>
          <p:nvPr/>
        </p:nvSpPr>
        <p:spPr>
          <a:xfrm>
            <a:off x="274320" y="-343972"/>
            <a:ext cx="609600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// Tree traversal in C</a:t>
            </a:r>
          </a:p>
          <a:p>
            <a:endParaRPr lang="en-IN"/>
          </a:p>
          <a:p>
            <a:r>
              <a:rPr lang="en-IN"/>
              <a:t>#include &lt;stdio.h&gt;</a:t>
            </a:r>
          </a:p>
          <a:p>
            <a:r>
              <a:rPr lang="en-IN"/>
              <a:t>#include &lt;stdlib.h&gt;</a:t>
            </a:r>
          </a:p>
          <a:p>
            <a:r>
              <a:rPr lang="en-IN"/>
              <a:t>struct node {</a:t>
            </a:r>
          </a:p>
          <a:p>
            <a:r>
              <a:rPr lang="en-IN"/>
              <a:t>  int item;</a:t>
            </a:r>
          </a:p>
          <a:p>
            <a:r>
              <a:rPr lang="en-IN"/>
              <a:t>  struct node* left;</a:t>
            </a:r>
          </a:p>
          <a:p>
            <a:r>
              <a:rPr lang="en-IN"/>
              <a:t>  struct node* right;</a:t>
            </a:r>
          </a:p>
          <a:p>
            <a:r>
              <a:rPr lang="en-IN"/>
              <a:t>};</a:t>
            </a:r>
          </a:p>
          <a:p>
            <a:endParaRPr lang="en-IN"/>
          </a:p>
          <a:p>
            <a:r>
              <a:rPr lang="en-IN"/>
              <a:t>// Inorder traversal</a:t>
            </a:r>
          </a:p>
          <a:p>
            <a:r>
              <a:rPr lang="en-IN"/>
              <a:t>void inorderTraversal(struct node* root) {</a:t>
            </a:r>
          </a:p>
          <a:p>
            <a:r>
              <a:rPr lang="en-IN"/>
              <a:t>  if (root == NULL) return;</a:t>
            </a:r>
          </a:p>
          <a:p>
            <a:r>
              <a:rPr lang="en-IN"/>
              <a:t>  inorderTraversal(root-&gt;left);</a:t>
            </a:r>
          </a:p>
          <a:p>
            <a:r>
              <a:rPr lang="en-IN"/>
              <a:t>  printf("%d -&gt;", root-&gt;item);</a:t>
            </a:r>
          </a:p>
          <a:p>
            <a:r>
              <a:rPr lang="en-IN"/>
              <a:t>  inorderTraversal(root-&gt;right);</a:t>
            </a:r>
          </a:p>
          <a:p>
            <a:r>
              <a:rPr lang="en-IN"/>
              <a:t>}</a:t>
            </a:r>
          </a:p>
          <a:p>
            <a:endParaRPr lang="en-IN"/>
          </a:p>
          <a:p>
            <a:r>
              <a:rPr lang="en-IN"/>
              <a:t>// preorderTraversal traversal</a:t>
            </a:r>
          </a:p>
          <a:p>
            <a:r>
              <a:rPr lang="en-IN"/>
              <a:t>void preorderTraversal(struct node* root) {</a:t>
            </a:r>
          </a:p>
          <a:p>
            <a:r>
              <a:rPr lang="en-IN"/>
              <a:t>  if (root == NULL) return;</a:t>
            </a:r>
          </a:p>
          <a:p>
            <a:r>
              <a:rPr lang="en-IN"/>
              <a:t>  printf("%d -&gt;", root-&gt;item);</a:t>
            </a:r>
          </a:p>
          <a:p>
            <a:r>
              <a:rPr lang="en-IN"/>
              <a:t>  preorderTraversal(root-&gt;left);</a:t>
            </a:r>
          </a:p>
          <a:p>
            <a:r>
              <a:rPr lang="en-IN"/>
              <a:t>  preorderTraversal(root-&gt;right);</a:t>
            </a:r>
          </a:p>
          <a:p>
            <a:r>
              <a:rPr lang="en-IN"/>
              <a:t>}</a:t>
            </a:r>
          </a:p>
          <a:p>
            <a:endParaRPr lang="en-IN"/>
          </a:p>
          <a:p>
            <a:r>
              <a:rPr lang="en-IN"/>
              <a:t>// postorderTraversal traversal</a:t>
            </a:r>
          </a:p>
          <a:p>
            <a:r>
              <a:rPr lang="en-IN"/>
              <a:t>void postorderTraversal(struct node* root) {</a:t>
            </a:r>
          </a:p>
          <a:p>
            <a:r>
              <a:rPr lang="en-IN"/>
              <a:t>  if (root == NULL) return;</a:t>
            </a:r>
          </a:p>
          <a:p>
            <a:r>
              <a:rPr lang="en-IN"/>
              <a:t>  postorderTraversal(root-&gt;left);</a:t>
            </a:r>
          </a:p>
          <a:p>
            <a:r>
              <a:rPr lang="en-IN"/>
              <a:t>  postorderTraversal(root-&gt;right);</a:t>
            </a:r>
          </a:p>
          <a:p>
            <a:r>
              <a:rPr lang="en-IN"/>
              <a:t>  printf("%d -&gt;", root-&gt;item);</a:t>
            </a:r>
          </a:p>
          <a:p>
            <a:r>
              <a:rPr lang="en-IN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9AC91D-500F-A32C-F23C-579C3A03A0B9}"/>
              </a:ext>
            </a:extLst>
          </p:cNvPr>
          <p:cNvSpPr txBox="1"/>
          <p:nvPr/>
        </p:nvSpPr>
        <p:spPr>
          <a:xfrm>
            <a:off x="6471920" y="156120"/>
            <a:ext cx="530352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  <a:p>
            <a:r>
              <a:rPr lang="en-IN"/>
              <a:t>// Create a new Node</a:t>
            </a:r>
          </a:p>
          <a:p>
            <a:r>
              <a:rPr lang="en-IN"/>
              <a:t>struct node* createNode(value) {</a:t>
            </a:r>
          </a:p>
          <a:p>
            <a:r>
              <a:rPr lang="en-IN"/>
              <a:t>  struct node* newNode = malloc(sizeof(struct node));</a:t>
            </a:r>
          </a:p>
          <a:p>
            <a:r>
              <a:rPr lang="en-IN"/>
              <a:t>  newNode-&gt;item = value;</a:t>
            </a:r>
          </a:p>
          <a:p>
            <a:r>
              <a:rPr lang="en-IN"/>
              <a:t>  newNode-&gt;left = NULL;</a:t>
            </a:r>
          </a:p>
          <a:p>
            <a:r>
              <a:rPr lang="en-IN"/>
              <a:t>  newNode-&gt;right = NULL;</a:t>
            </a:r>
          </a:p>
          <a:p>
            <a:endParaRPr lang="en-IN"/>
          </a:p>
          <a:p>
            <a:r>
              <a:rPr lang="en-IN"/>
              <a:t>  return newNode;</a:t>
            </a:r>
          </a:p>
          <a:p>
            <a:r>
              <a:rPr lang="en-IN"/>
              <a:t>}</a:t>
            </a:r>
          </a:p>
          <a:p>
            <a:endParaRPr lang="en-IN"/>
          </a:p>
          <a:p>
            <a:r>
              <a:rPr lang="en-IN"/>
              <a:t>// Insert on the left of the node</a:t>
            </a:r>
          </a:p>
          <a:p>
            <a:r>
              <a:rPr lang="en-IN"/>
              <a:t>struct node* insertLeft(struct node* root, int value) {</a:t>
            </a:r>
          </a:p>
          <a:p>
            <a:r>
              <a:rPr lang="en-IN"/>
              <a:t>  root-&gt;left = createNode(value);</a:t>
            </a:r>
          </a:p>
          <a:p>
            <a:r>
              <a:rPr lang="en-IN"/>
              <a:t>  return root-&gt;left;</a:t>
            </a:r>
          </a:p>
          <a:p>
            <a:r>
              <a:rPr lang="en-IN"/>
              <a:t>}</a:t>
            </a:r>
          </a:p>
          <a:p>
            <a:endParaRPr lang="en-IN"/>
          </a:p>
          <a:p>
            <a:r>
              <a:rPr lang="en-IN"/>
              <a:t>// Insert on the right of the node</a:t>
            </a:r>
          </a:p>
          <a:p>
            <a:r>
              <a:rPr lang="en-IN"/>
              <a:t>struct node* insertRight(struct node* root, int value) {</a:t>
            </a:r>
          </a:p>
          <a:p>
            <a:r>
              <a:rPr lang="en-IN"/>
              <a:t>  root-&gt;right = createNode(value);</a:t>
            </a:r>
          </a:p>
          <a:p>
            <a:r>
              <a:rPr lang="en-IN"/>
              <a:t>  return root-&gt;right;</a:t>
            </a:r>
          </a:p>
          <a:p>
            <a:r>
              <a:rPr lang="en-IN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151992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6C22FF-39F5-7868-2121-C92169967C1C}"/>
              </a:ext>
            </a:extLst>
          </p:cNvPr>
          <p:cNvSpPr txBox="1"/>
          <p:nvPr/>
        </p:nvSpPr>
        <p:spPr>
          <a:xfrm>
            <a:off x="162560" y="464443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int main() {</a:t>
            </a:r>
          </a:p>
          <a:p>
            <a:r>
              <a:rPr lang="en-IN"/>
              <a:t>  struct node* root = createNode(1);</a:t>
            </a:r>
          </a:p>
          <a:p>
            <a:r>
              <a:rPr lang="en-IN"/>
              <a:t>  insertLeft(root, 12);</a:t>
            </a:r>
          </a:p>
          <a:p>
            <a:r>
              <a:rPr lang="en-IN"/>
              <a:t>  insertRight(root, 9);</a:t>
            </a:r>
          </a:p>
          <a:p>
            <a:endParaRPr lang="en-IN"/>
          </a:p>
          <a:p>
            <a:r>
              <a:rPr lang="en-IN"/>
              <a:t>  insertLeft(root-&gt;left, 5);</a:t>
            </a:r>
          </a:p>
          <a:p>
            <a:r>
              <a:rPr lang="en-IN"/>
              <a:t>  insertRight(root-&gt;left, 6);</a:t>
            </a:r>
          </a:p>
          <a:p>
            <a:endParaRPr lang="en-IN"/>
          </a:p>
          <a:p>
            <a:r>
              <a:rPr lang="en-IN"/>
              <a:t>  printf("Inorder traversal \n");</a:t>
            </a:r>
          </a:p>
          <a:p>
            <a:r>
              <a:rPr lang="en-IN"/>
              <a:t>  inorderTraversal(root);</a:t>
            </a:r>
          </a:p>
          <a:p>
            <a:endParaRPr lang="en-IN"/>
          </a:p>
          <a:p>
            <a:r>
              <a:rPr lang="en-IN"/>
              <a:t>  printf("\nPreorder traversal \n");</a:t>
            </a:r>
          </a:p>
          <a:p>
            <a:r>
              <a:rPr lang="en-IN"/>
              <a:t>  preorderTraversal(root);</a:t>
            </a:r>
          </a:p>
          <a:p>
            <a:endParaRPr lang="en-IN"/>
          </a:p>
          <a:p>
            <a:r>
              <a:rPr lang="en-IN"/>
              <a:t>  printf("\nPostorder traversal \n");</a:t>
            </a:r>
          </a:p>
          <a:p>
            <a:r>
              <a:rPr lang="en-IN"/>
              <a:t>  postorderTraversal(root);</a:t>
            </a:r>
          </a:p>
          <a:p>
            <a:r>
              <a:rPr lang="en-IN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1128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1217</Words>
  <Application>Microsoft Office PowerPoint</Application>
  <PresentationFormat>Widescreen</PresentationFormat>
  <Paragraphs>191</Paragraphs>
  <Slides>63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Calibri</vt:lpstr>
      <vt:lpstr>Times New Roman</vt:lpstr>
      <vt:lpstr>Noto Sans Symbols</vt:lpstr>
      <vt:lpstr>Garamond</vt:lpstr>
      <vt:lpstr>Arial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RITESH SHARMA</dc:creator>
  <cp:lastModifiedBy>RITESH SHARMA</cp:lastModifiedBy>
  <cp:revision>3</cp:revision>
  <dcterms:created xsi:type="dcterms:W3CDTF">2025-06-19T05:34:38Z</dcterms:created>
  <dcterms:modified xsi:type="dcterms:W3CDTF">2025-07-09T05:54:46Z</dcterms:modified>
</cp:coreProperties>
</file>